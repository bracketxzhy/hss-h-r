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45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69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4474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86000">
              <a:srgbClr val="8E8E8E"/>
            </a:gs>
            <a:gs pos="23000">
              <a:schemeClr val="accent3">
                <a:lumMod val="95000"/>
                <a:lumOff val="5000"/>
              </a:schemeClr>
            </a:gs>
            <a:gs pos="100000">
              <a:schemeClr val="accent3">
                <a:lumMod val="56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475"/>
            <a:ext cx="12191695" cy="822960"/>
          </a:xfrm>
          <a:prstGeom prst="rect">
            <a:avLst/>
          </a:prstGeom>
          <a:solidFill>
            <a:schemeClr val="bg2">
              <a:lumMod val="1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Text 3"/>
          <p:cNvSpPr/>
          <p:nvPr/>
        </p:nvSpPr>
        <p:spPr>
          <a:xfrm>
            <a:off x="1827535" y="195965"/>
            <a:ext cx="8652753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chemeClr val="bg1">
                    <a:lumMod val="8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Finding My Own Balance for Inner Tranquility and Resilience</a:t>
            </a:r>
            <a:endParaRPr lang="en-US" sz="25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0801349" y="234115"/>
            <a:ext cx="1212481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Stefan Zhang  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2024141520349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932688"/>
            <a:ext cx="4160520" cy="5779008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>
                <a:lumMod val="75000"/>
              </a:scheme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932688"/>
            <a:ext cx="4160520" cy="33832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noFill/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960120"/>
            <a:ext cx="4160520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745736" y="932688"/>
            <a:ext cx="3657600" cy="5779008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>
                <a:lumMod val="75000"/>
              </a:scheme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45736" y="932688"/>
            <a:ext cx="3657600" cy="33832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noFill/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45736" y="960120"/>
            <a:ext cx="3657600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My Three Insights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732520" y="932687"/>
            <a:ext cx="3246120" cy="2329625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>
                <a:lumMod val="75000"/>
              </a:scheme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32520" y="932688"/>
            <a:ext cx="3246120" cy="33832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noFill/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32520" y="960120"/>
            <a:ext cx="3246120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11480" y="1371600"/>
            <a:ext cx="3849624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 a SCUPI student, university life does not give me a completely new life. More accurately, it breaks some old rules and asks me to build my own rules.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Through eight diary entries, I reflected on future technology, Hangzhou, self-awareness, campus pressure, happiness, peaceful moments, procrastination, and helping others. These topics look different, but they point to the same question: how can I keep inner tranquility when the environment changes quickly?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me, wellness is not being happy all the time, and resilience is not pretending to be strong. Wellness means understanding my real needs; resilience means continuing to act under pressure without losing myself. This poster transforms my diary evidence into a concise visual narrative of personal growth, from roots and pressure to discipline and human connection.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4632" y="5486400"/>
            <a:ext cx="3703320" cy="109727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noFill/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5519738"/>
            <a:ext cx="3703320" cy="102736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2F56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wellness is built by </a:t>
            </a:r>
          </a:p>
          <a:p>
            <a:pPr marL="0" indent="0" algn="ctr">
              <a:buNone/>
            </a:pPr>
            <a:r>
              <a:rPr lang="en-US" sz="1600" b="1" i="1" dirty="0">
                <a:solidFill>
                  <a:srgbClr val="2F56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honest self-understanding; </a:t>
            </a:r>
          </a:p>
          <a:p>
            <a:pPr marL="0" indent="0" algn="ctr">
              <a:buNone/>
            </a:pPr>
            <a:r>
              <a:rPr lang="en-US" sz="1600" b="1" i="1" dirty="0">
                <a:solidFill>
                  <a:srgbClr val="2F56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resilience is built by </a:t>
            </a:r>
          </a:p>
          <a:p>
            <a:pPr marL="0" indent="0" algn="ctr">
              <a:buNone/>
            </a:pPr>
            <a:r>
              <a:rPr lang="en-US" sz="1600" b="1" i="1" dirty="0">
                <a:solidFill>
                  <a:srgbClr val="2F56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repeated small actions.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19472" y="1335024"/>
            <a:ext cx="3328416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Clear self-positioning</a:t>
            </a:r>
            <a:endParaRPr lang="en-US" sz="1400" b="1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My future imagination and hometown memories show that I need roots as well as vision. AI may change the value of skills, while Hangzhou reminds me why I value innovation, independence, and original ideas.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Evidence-based resilience</a:t>
            </a:r>
            <a:endParaRPr lang="en-US" sz="1400" b="1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College freedom is not automatically relaxing. It requires judgment and habits. Confidence should not come from empty self-comfort, but from evidence: previewing, reviewing, asking questions earlier, and starting difficult tasks for five minutes.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Shared wellness</a:t>
            </a:r>
            <a:endParaRPr lang="en-US" sz="1400" b="1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Peace is often quiet, ordinary, and easy to miss. It appears after pressure is removed, during a bike ride, a meal with friends, or a careful conversation. Listening and active participation are small actions, but they help both myself and others.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19472" y="5712521"/>
            <a:ext cx="3328416" cy="8711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noFill/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5779007"/>
            <a:ext cx="30358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2">
                    <a:lumMod val="50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Reflection Path</a:t>
            </a:r>
            <a:endParaRPr lang="en-US" sz="13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038344" y="6167628"/>
            <a:ext cx="621792" cy="301752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noFill/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56632" y="6231636"/>
            <a:ext cx="585216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Roots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78424" y="6281928"/>
            <a:ext cx="146304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43016" y="6167628"/>
            <a:ext cx="621792" cy="30175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61304" y="6231636"/>
            <a:ext cx="585216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Pressure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83096" y="6281928"/>
            <a:ext cx="146304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47688" y="6167628"/>
            <a:ext cx="621792" cy="30175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665976" y="6231636"/>
            <a:ext cx="585216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287768" y="6281928"/>
            <a:ext cx="146304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452360" y="6167628"/>
            <a:ext cx="621792" cy="30175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noFill/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70648" y="6231636"/>
            <a:ext cx="585216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Connection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869680" y="1362456"/>
            <a:ext cx="2971800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zh-CN" altLang="zh-CN" sz="1100" dirty="0"/>
              <a:t>Jeffery, D. M. (2015). </a:t>
            </a:r>
            <a:r>
              <a:rPr lang="zh-CN" altLang="zh-CN" sz="1100" i="1" dirty="0"/>
              <a:t>Daoist Wisdom for Teachers: A Diary Study</a:t>
            </a:r>
            <a:r>
              <a:rPr lang="zh-CN" altLang="zh-CN" sz="1100" dirty="0"/>
              <a:t>. University of Hawai’i Press</a:t>
            </a:r>
          </a:p>
          <a:p>
            <a:r>
              <a:rPr lang="zh-CN" altLang="zh-CN" sz="1100" dirty="0"/>
              <a:t>Jeffrey, D. M. (2021). Ancient Daoist wisdom and its associated principle of yin-yang for contemporary classrooms as foundations for a harmonious world, </a:t>
            </a:r>
            <a:r>
              <a:rPr lang="zh-CN" altLang="zh-CN" sz="1100" i="1" dirty="0"/>
              <a:t>Journal of Philosophical Inquiry in Education, 28</a:t>
            </a:r>
            <a:r>
              <a:rPr lang="zh-CN" altLang="zh-CN" sz="1100" dirty="0"/>
              <a:t>(3), 237-250.</a:t>
            </a:r>
          </a:p>
          <a:p>
            <a:r>
              <a:rPr lang="zh-CN" altLang="zh-CN" sz="1100" dirty="0"/>
              <a:t>Jeffery, D. M. (2010). A Teacher Diary Study to Apply Ancient Art of War Strategies to Professional Development, </a:t>
            </a:r>
            <a:r>
              <a:rPr lang="zh-CN" altLang="zh-CN" sz="1100" i="1" dirty="0"/>
              <a:t>The International Journal of Learning, 17</a:t>
            </a:r>
            <a:r>
              <a:rPr lang="zh-CN" altLang="zh-CN" sz="1100" dirty="0"/>
              <a:t>(3), 21-36</a:t>
            </a:r>
          </a:p>
        </p:txBody>
      </p:sp>
      <p:sp>
        <p:nvSpPr>
          <p:cNvPr id="34" name="Shape 32"/>
          <p:cNvSpPr/>
          <p:nvPr/>
        </p:nvSpPr>
        <p:spPr>
          <a:xfrm>
            <a:off x="8732520" y="3429001"/>
            <a:ext cx="3246120" cy="3282695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>
                <a:lumMod val="75000"/>
              </a:scheme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32520" y="3429000"/>
            <a:ext cx="3246120" cy="35876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noFill/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32520" y="3456432"/>
            <a:ext cx="3246120" cy="2811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Application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8897112" y="3867912"/>
            <a:ext cx="2916936" cy="227861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Stop making pressure worse through comparison and procrastination.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Keep curiosity, but check the cost of habits.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Build stronger routines: preview, review, ask earlier.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Protect ordinary peaceful moments as recovery.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Offer careful listening and active participation in group work.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897112" y="6048944"/>
            <a:ext cx="2916936" cy="5347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0" y="6112953"/>
            <a:ext cx="2423160" cy="47072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315C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Small actions repeated every day are stronger than one dramatic decision.</a:t>
            </a:r>
            <a:endParaRPr lang="en-US" sz="14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A073CD3D-252D-2302-6302-586E66DEE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70" y="191223"/>
            <a:ext cx="1250582" cy="4483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507</Words>
  <Application>Microsoft Office PowerPoint</Application>
  <PresentationFormat>Widescreen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Office Theme</vt:lpstr>
      <vt:lpstr>PowerPoint Presentation</vt:lpstr>
    </vt:vector>
  </TitlesOfParts>
  <Company>SCUPI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Finding My Own Balance for Inner Tranquility and Resilience</dc:title>
  <dc:subject>Reflection Poster</dc:subject>
  <dc:creator>Stefan Zhang</dc:creator>
  <cp:lastModifiedBy>Heyang Zhang</cp:lastModifiedBy>
  <cp:revision>4</cp:revision>
  <dcterms:created xsi:type="dcterms:W3CDTF">2026-06-08T07:07:22Z</dcterms:created>
  <dcterms:modified xsi:type="dcterms:W3CDTF">2026-06-11T07:34:55Z</dcterms:modified>
</cp:coreProperties>
</file>